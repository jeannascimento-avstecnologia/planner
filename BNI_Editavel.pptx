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6576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22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310896"/>
            <a:ext cx="214884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PLANO'S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621792"/>
            <a:ext cx="2194560" cy="25603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000" b="0" i="0" spc="300">
                <a:solidFill>
                  <a:srgbClr val="B0B8C8"/>
                </a:solidFill>
                <a:latin typeface="Arial"/>
                <a:ea typeface="Arial"/>
                <a:cs typeface="Arial"/>
              </a:rPr>
              <a:t>CONTABILIDADE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8686800" cy="71323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CONTABILIDADE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8686800" cy="6583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QUE ORGANIZA,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144000" cy="6217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3800" b="1" i="1">
                <a:solidFill>
                  <a:srgbClr val="5B7FC7"/>
                </a:solidFill>
                <a:latin typeface="Arial Black"/>
                <a:ea typeface="Arial Black"/>
                <a:cs typeface="Arial Black"/>
              </a:rPr>
              <a:t>CUIDA E FAZ SUA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11880"/>
            <a:ext cx="9601200" cy="6217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3800" b="1" i="1">
                <a:solidFill>
                  <a:srgbClr val="5B7FC7"/>
                </a:solidFill>
                <a:latin typeface="Arial Black"/>
                <a:ea typeface="Arial Black"/>
                <a:cs typeface="Arial Black"/>
              </a:rPr>
              <a:t>EMPRESA CRESCER!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77724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SEGURANÇA PARA EMPREENDER.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1" i="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TRANQUILIDADE PARA DECIDIR.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43600"/>
            <a:ext cx="6400800" cy="36576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200" b="1" i="0" spc="28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APRESENTAÇÃO BNI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5760" y="274320"/>
            <a:ext cx="822960" cy="822960"/>
          </a:xfrm>
          <a:prstGeom prst="roundRect">
            <a:avLst>
              <a:gd name="adj" fmla="val 18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25603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2952" y="201168"/>
            <a:ext cx="214884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PLANO'S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2" y="512064"/>
            <a:ext cx="2194560" cy="25603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000" b="0" i="0" spc="300">
                <a:solidFill>
                  <a:srgbClr val="B0B8C8"/>
                </a:solidFill>
                <a:latin typeface="Arial"/>
                <a:ea typeface="Arial"/>
                <a:cs typeface="Arial"/>
              </a:rPr>
              <a:t>CONTABILIDADE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6583680" cy="53035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33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CUIDADOS 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6583680" cy="53035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33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ABERTURA 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68880"/>
            <a:ext cx="6583680" cy="56692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38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EMPRESAS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3383280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8288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5852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Escolha correta da natureza jurídica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3621024"/>
            <a:ext cx="5852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6B7B9E"/>
                </a:solidFill>
                <a:latin typeface="Calibri"/>
                <a:ea typeface="Calibri"/>
                <a:cs typeface="Calibri"/>
              </a:rPr>
              <a:t>Alinhada ao seu objetivo e ao seu momento.</a:t>
            </a:r>
          </a:p>
        </p:txBody>
      </p:sp>
      <p:sp>
        <p:nvSpPr>
          <p:cNvPr id="13" name="Oval 12"/>
          <p:cNvSpPr/>
          <p:nvPr/>
        </p:nvSpPr>
        <p:spPr>
          <a:xfrm>
            <a:off x="365760" y="4160520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8288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4142232"/>
            <a:ext cx="5852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Enquadramento tributário adequado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4398264"/>
            <a:ext cx="5852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6B7B9E"/>
                </a:solidFill>
                <a:latin typeface="Calibri"/>
                <a:ea typeface="Calibri"/>
                <a:cs typeface="Calibri"/>
              </a:rPr>
              <a:t>Evita pagar impostos desnecessários.</a:t>
            </a:r>
          </a:p>
        </p:txBody>
      </p:sp>
      <p:sp>
        <p:nvSpPr>
          <p:cNvPr id="16" name="Oval 15"/>
          <p:cNvSpPr/>
          <p:nvPr/>
        </p:nvSpPr>
        <p:spPr>
          <a:xfrm>
            <a:off x="365760" y="4937760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8288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4919472"/>
            <a:ext cx="5852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Regularização completa desde o início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" y="5175504"/>
            <a:ext cx="5852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6B7B9E"/>
                </a:solidFill>
                <a:latin typeface="Calibri"/>
                <a:ea typeface="Calibri"/>
                <a:cs typeface="Calibri"/>
              </a:rPr>
              <a:t>CNPJ, Inscrições, alvarás e licenças em dia.</a:t>
            </a:r>
          </a:p>
        </p:txBody>
      </p:sp>
      <p:sp>
        <p:nvSpPr>
          <p:cNvPr id="19" name="Oval 18"/>
          <p:cNvSpPr/>
          <p:nvPr/>
        </p:nvSpPr>
        <p:spPr>
          <a:xfrm>
            <a:off x="365760" y="5715000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8288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" y="5696712"/>
            <a:ext cx="5852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Planejamento é o melhor caminho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" y="5952744"/>
            <a:ext cx="5852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6B7B9E"/>
                </a:solidFill>
                <a:latin typeface="Calibri"/>
                <a:ea typeface="Calibri"/>
                <a:cs typeface="Calibri"/>
              </a:rPr>
              <a:t>Mais segurança, menos riscos e economia.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5760" y="274320"/>
            <a:ext cx="822960" cy="822960"/>
          </a:xfrm>
          <a:prstGeom prst="roundRect">
            <a:avLst>
              <a:gd name="adj" fmla="val 18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"/>
            <a:ext cx="77724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9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PRINCIPAIS ERROS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13232"/>
            <a:ext cx="7772400" cy="56692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40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DO MEI</a:t>
            </a:r>
          </a:p>
        </p:txBody>
      </p:sp>
      <p:sp>
        <p:nvSpPr>
          <p:cNvPr id="6" name="Oval 5"/>
          <p:cNvSpPr/>
          <p:nvPr/>
        </p:nvSpPr>
        <p:spPr>
          <a:xfrm>
            <a:off x="5806440" y="1828800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8288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10512"/>
            <a:ext cx="57607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Misturar receitas e despesas pessoais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066543"/>
            <a:ext cx="57607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6B7B9E"/>
                </a:solidFill>
                <a:latin typeface="Calibri"/>
                <a:ea typeface="Calibri"/>
                <a:cs typeface="Calibri"/>
              </a:rPr>
              <a:t>Compromete o controle e pode gerar problemas fiscais.</a:t>
            </a:r>
          </a:p>
        </p:txBody>
      </p:sp>
      <p:sp>
        <p:nvSpPr>
          <p:cNvPr id="9" name="Oval 8"/>
          <p:cNvSpPr/>
          <p:nvPr/>
        </p:nvSpPr>
        <p:spPr>
          <a:xfrm>
            <a:off x="5806440" y="2926080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8288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4224" y="2907792"/>
            <a:ext cx="57607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Não emitir notas fiscais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163824"/>
            <a:ext cx="57607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6B7B9E"/>
                </a:solidFill>
                <a:latin typeface="Calibri"/>
                <a:ea typeface="Calibri"/>
                <a:cs typeface="Calibri"/>
              </a:rPr>
              <a:t>Pode gerar multas e até o desenquadramento do MEI.</a:t>
            </a:r>
          </a:p>
        </p:txBody>
      </p:sp>
      <p:sp>
        <p:nvSpPr>
          <p:cNvPr id="12" name="Oval 11"/>
          <p:cNvSpPr/>
          <p:nvPr/>
        </p:nvSpPr>
        <p:spPr>
          <a:xfrm>
            <a:off x="5806440" y="4023360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8288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4005072"/>
            <a:ext cx="57607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Não guardar comprovantes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4261104"/>
            <a:ext cx="57607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6B7B9E"/>
                </a:solidFill>
                <a:latin typeface="Calibri"/>
                <a:ea typeface="Calibri"/>
                <a:cs typeface="Calibri"/>
              </a:rPr>
              <a:t>Essenciais para justificar movimentações.</a:t>
            </a:r>
          </a:p>
        </p:txBody>
      </p:sp>
      <p:sp>
        <p:nvSpPr>
          <p:cNvPr id="15" name="Oval 14"/>
          <p:cNvSpPr/>
          <p:nvPr/>
        </p:nvSpPr>
        <p:spPr>
          <a:xfrm>
            <a:off x="5806440" y="5120640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8288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5102352"/>
            <a:ext cx="57607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Não acompanhar o faturamento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5358383"/>
            <a:ext cx="57607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6B7B9E"/>
                </a:solidFill>
                <a:latin typeface="Calibri"/>
                <a:ea typeface="Calibri"/>
                <a:cs typeface="Calibri"/>
              </a:rPr>
              <a:t>Ultrapassar o limite pode trazer prejuízos.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9436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5760" y="274320"/>
            <a:ext cx="822960" cy="822960"/>
          </a:xfrm>
          <a:prstGeom prst="roundRect">
            <a:avLst>
              <a:gd name="adj" fmla="val 18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"/>
            <a:ext cx="7772400" cy="4572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SEPARE SEMPRE: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31520"/>
            <a:ext cx="7772400" cy="54864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38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PF E PJ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1645920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8288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627632"/>
            <a:ext cx="48920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Não misture as contas pessoais com as da empresa.</a:t>
            </a:r>
          </a:p>
        </p:txBody>
      </p:sp>
      <p:sp>
        <p:nvSpPr>
          <p:cNvPr id="8" name="Oval 7"/>
          <p:cNvSpPr/>
          <p:nvPr/>
        </p:nvSpPr>
        <p:spPr>
          <a:xfrm>
            <a:off x="320040" y="2834640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8288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816352"/>
            <a:ext cx="48920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Mais controle financeiro e clareza nos resultados.</a:t>
            </a:r>
          </a:p>
        </p:txBody>
      </p:sp>
      <p:sp>
        <p:nvSpPr>
          <p:cNvPr id="10" name="Oval 9"/>
          <p:cNvSpPr/>
          <p:nvPr/>
        </p:nvSpPr>
        <p:spPr>
          <a:xfrm>
            <a:off x="320040" y="4023360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8288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005072"/>
            <a:ext cx="48920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Evita problemas com o Fisco e facilita o crescimento.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371600"/>
            <a:ext cx="2560320" cy="3200400"/>
          </a:xfrm>
          <a:prstGeom prst="roundRect">
            <a:avLst>
              <a:gd name="adj" fmla="val 8000"/>
            </a:avLst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66560" y="1874519"/>
            <a:ext cx="640080" cy="6400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8288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651760"/>
            <a:ext cx="2560320" cy="4572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PF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108960"/>
            <a:ext cx="2560320" cy="36576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1400" b="0" i="0" spc="200">
                <a:solidFill>
                  <a:srgbClr val="6B7B9E"/>
                </a:solidFill>
                <a:latin typeface="Calibri"/>
                <a:ea typeface="Calibri"/>
                <a:cs typeface="Calibri"/>
              </a:rPr>
              <a:t>PESSOAL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371600"/>
            <a:ext cx="2560320" cy="3200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84080" y="1874519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8288" bIns="0"/>
          <a:lstStyle/>
          <a:p>
            <a:pPr algn="ctr"/>
            <a:r>
              <a:rPr sz="2000" b="1" i="0">
                <a:solidFill>
                  <a:srgbClr val="1B2A4A"/>
                </a:solidFill>
                <a:latin typeface="Segoe UI Emoji"/>
                <a:ea typeface="Segoe UI Emoji"/>
                <a:cs typeface="Segoe UI Emoji"/>
              </a:rPr>
              <a:t>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651760"/>
            <a:ext cx="2560320" cy="4572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PJ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108960"/>
            <a:ext cx="2560320" cy="36576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1400" b="0" i="0" spc="2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EMPRESA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303520"/>
            <a:ext cx="5029200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5486400"/>
            <a:ext cx="731520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EMPRESA ORGANIZADA,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897880"/>
            <a:ext cx="8229600" cy="36576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600" b="1" i="1">
                <a:solidFill>
                  <a:srgbClr val="5B7FC7"/>
                </a:solidFill>
                <a:latin typeface="Arial Black"/>
                <a:ea typeface="Arial Black"/>
                <a:cs typeface="Arial Black"/>
              </a:rPr>
              <a:t>DECISÕES MAIS ASSERTIVAS!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5760" y="274320"/>
            <a:ext cx="822960" cy="822960"/>
          </a:xfrm>
          <a:prstGeom prst="roundRect">
            <a:avLst>
              <a:gd name="adj" fmla="val 18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"/>
            <a:ext cx="9144000" cy="43891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NOSSO ONBOARDING: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13232"/>
            <a:ext cx="960120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800" b="1" i="1">
                <a:solidFill>
                  <a:srgbClr val="5B7FC7"/>
                </a:solidFill>
                <a:latin typeface="Arial Black"/>
                <a:ea typeface="Arial Black"/>
                <a:cs typeface="Arial Black"/>
              </a:rPr>
              <a:t>CUIDADO DESDE O PRIMEIRO DIA</a:t>
            </a:r>
          </a:p>
        </p:txBody>
      </p:sp>
      <p:sp>
        <p:nvSpPr>
          <p:cNvPr id="6" name="Oval 5"/>
          <p:cNvSpPr/>
          <p:nvPr/>
        </p:nvSpPr>
        <p:spPr>
          <a:xfrm>
            <a:off x="365760" y="1417320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8288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1399032"/>
            <a:ext cx="66751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Entendimento do negócio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1655064"/>
            <a:ext cx="66751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1">
                <a:solidFill>
                  <a:srgbClr val="6B7B9E"/>
                </a:solidFill>
                <a:latin typeface="Calibri"/>
                <a:ea typeface="Calibri"/>
                <a:cs typeface="Calibri"/>
              </a:rPr>
              <a:t>Conhecemos você, seu mercado e seus objetivos.</a:t>
            </a:r>
          </a:p>
        </p:txBody>
      </p:sp>
      <p:sp>
        <p:nvSpPr>
          <p:cNvPr id="9" name="Oval 8"/>
          <p:cNvSpPr/>
          <p:nvPr/>
        </p:nvSpPr>
        <p:spPr>
          <a:xfrm>
            <a:off x="365760" y="2221992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8288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203704"/>
            <a:ext cx="66751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Documentação e cadastros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459736"/>
            <a:ext cx="66751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1">
                <a:solidFill>
                  <a:srgbClr val="6B7B9E"/>
                </a:solidFill>
                <a:latin typeface="Calibri"/>
                <a:ea typeface="Calibri"/>
                <a:cs typeface="Calibri"/>
              </a:rPr>
              <a:t>Coleta e organização de todos os documentos.</a:t>
            </a:r>
          </a:p>
        </p:txBody>
      </p:sp>
      <p:sp>
        <p:nvSpPr>
          <p:cNvPr id="12" name="Oval 11"/>
          <p:cNvSpPr/>
          <p:nvPr/>
        </p:nvSpPr>
        <p:spPr>
          <a:xfrm>
            <a:off x="365760" y="3026664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8288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008376"/>
            <a:ext cx="66751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Estruturação contábil e fiscal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264408"/>
            <a:ext cx="66751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1">
                <a:solidFill>
                  <a:srgbClr val="6B7B9E"/>
                </a:solidFill>
                <a:latin typeface="Calibri"/>
                <a:ea typeface="Calibri"/>
                <a:cs typeface="Calibri"/>
              </a:rPr>
              <a:t>Parametrizações corretas para uma gestão segura.</a:t>
            </a:r>
          </a:p>
        </p:txBody>
      </p:sp>
      <p:sp>
        <p:nvSpPr>
          <p:cNvPr id="15" name="Oval 14"/>
          <p:cNvSpPr/>
          <p:nvPr/>
        </p:nvSpPr>
        <p:spPr>
          <a:xfrm>
            <a:off x="365760" y="3831336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8288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3813048"/>
            <a:ext cx="66751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Orientações iniciais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4069080"/>
            <a:ext cx="66751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1">
                <a:solidFill>
                  <a:srgbClr val="6B7B9E"/>
                </a:solidFill>
                <a:latin typeface="Calibri"/>
                <a:ea typeface="Calibri"/>
                <a:cs typeface="Calibri"/>
              </a:rPr>
              <a:t>Apoio para decisões mais inteligentes desde o início.</a:t>
            </a:r>
          </a:p>
        </p:txBody>
      </p:sp>
      <p:sp>
        <p:nvSpPr>
          <p:cNvPr id="18" name="Oval 17"/>
          <p:cNvSpPr/>
          <p:nvPr/>
        </p:nvSpPr>
        <p:spPr>
          <a:xfrm>
            <a:off x="365760" y="4636008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8288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" y="4617720"/>
            <a:ext cx="66751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Acompanhamento próximo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" y="4873752"/>
            <a:ext cx="66751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1">
                <a:solidFill>
                  <a:srgbClr val="6B7B9E"/>
                </a:solidFill>
                <a:latin typeface="Calibri"/>
                <a:ea typeface="Calibri"/>
                <a:cs typeface="Calibri"/>
              </a:rPr>
              <a:t>Conte com a gente em todas as etapas da sua jornada.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5669280"/>
            <a:ext cx="11612880" cy="82296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✓  ONBOARDING COMPLETO = FUNDAÇÃO FORTE PARA O CRESCIMENTO.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